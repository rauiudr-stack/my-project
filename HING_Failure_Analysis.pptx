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58952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5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4E"/>
                </a:solidFill>
              </a:rPr>
              <a:t>01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根本原因分析（RCA）— 第2頁重點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754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C"/>
                </a:solidFill>
              </a:rPr>
              <a:t>Drone HING Solder Joint Fracture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914400"/>
            <a:ext cx="3749039" cy="5074920"/>
          </a:xfrm>
          <a:prstGeom prst="rect">
            <a:avLst/>
          </a:prstGeom>
          <a:solidFill>
            <a:srgbClr val="1A4A7A"/>
          </a:solidFill>
          <a:ln w="6350">
            <a:solidFill>
              <a:srgbClr val="B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914400"/>
            <a:ext cx="3749039" cy="3474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9326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RC-01  主因｜製程偏差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316736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回焊峰值溫度不足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規格 245±5°C → 實測 238°C（偏低 7°C）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液態區間僅 35 sec（規格 45–75 sec）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冷卻速率 6.2°C/sec（規格 ≤3°C/sec）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影響機制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① 焊料未完全潤濕 → HiP 假焊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② 快速凝固 → 粗大 Sn 枝晶，延展性↓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③ IMC 層 Cu₆Sn₅ 異常增厚至 8–12 μm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B0BECC"/>
                </a:solidFill>
              </a:rPr>
              <a:t>   （正常 ≤3 μm）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④ 界面脆化 → 晶間斷裂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矯正行動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峰值溫度調整至 248°C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TAL 延長至 60 sec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冷卻速率限制 ≤2.5°C/sec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SPI + Profiler 即時監控，Cpk ≥ 1.33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914400"/>
            <a:ext cx="3749039" cy="5074920"/>
          </a:xfrm>
          <a:prstGeom prst="rect">
            <a:avLst/>
          </a:prstGeom>
          <a:solidFill>
            <a:srgbClr val="1A4A7A"/>
          </a:solidFill>
          <a:ln w="6350">
            <a:solidFill>
              <a:srgbClr val="B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914400"/>
            <a:ext cx="3749039" cy="3474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9326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RC-02  次因｜CTE 不匹配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316736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熱膨脹係數差異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FR-4 PCB  →  14–17 ppm/°C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鋁合金機框  →  23 ppm/°C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0A500"/>
                </a:solidFill>
              </a:rPr>
              <a:t>差值 ΔCTE = 6–9 ppm/°C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應力計算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每循環（ΔT=40°C）角落焊點承受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0A500"/>
                </a:solidFill>
              </a:rPr>
              <a:t>剪切應力 ±18 MPa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B0BECC"/>
                </a:solidFill>
              </a:rPr>
              <a:t>（角落焊球距中心最遠，應力最大）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Coffin-Manson 壽命預測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計算預期壽命 ~900 循環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0A500"/>
                </a:solidFill>
              </a:rPr>
              <a:t>現場首次失效 850 循環  ✓ 高度吻合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矯正行動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換用 Rogers 4350B（CTE 11–14）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角落焊盤 0.45→0.55 mm + Via-in-Pad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HING / 機框間加 Shore A40 矽膠墊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914400"/>
            <a:ext cx="4041648" cy="5074920"/>
          </a:xfrm>
          <a:prstGeom prst="rect">
            <a:avLst/>
          </a:prstGeom>
          <a:solidFill>
            <a:srgbClr val="1A4A7A"/>
          </a:solidFill>
          <a:ln w="6350">
            <a:solidFill>
              <a:srgbClr val="B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914400"/>
            <a:ext cx="4041648" cy="347472"/>
          </a:xfrm>
          <a:prstGeom prst="rect">
            <a:avLst/>
          </a:prstGeom>
          <a:solidFill>
            <a:srgbClr val="7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93268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RC-03  促因｜振動耦合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316736"/>
            <a:ext cx="385876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振動共振機制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電機 PWM 諧波頻率（80–120 Hz）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0A500"/>
                </a:solidFill>
              </a:rPr>
              <a:t>  ≈ 機臂共振頻率（~95 Hz）  →  共振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振動加速度峰值 12G（規格僅 8G）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熱–振動耦合加速裂紋速率 ×2.3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0A500"/>
                </a:solidFill>
              </a:rPr>
              <a:t>矯正行動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PWM 24 kHz → 32 kHz（迴避共振）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• 四角 Underfill 底膠（Loctite 3563）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3822191"/>
            <a:ext cx="4041648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384047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5-Why 流程追溯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4133087"/>
            <a:ext cx="385876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19" b="0">
                <a:solidFill>
                  <a:srgbClr val="FFFFFF"/>
                </a:solidFill>
              </a:rPr>
              <a:t>W1  焊點斷裂 → IMC 界面脆性開裂</a:t>
            </a:r>
          </a:p>
          <a:p>
            <a:pPr>
              <a:spcBef>
                <a:spcPts val="100"/>
              </a:spcBef>
            </a:pPr>
            <a:r>
              <a:rPr sz="919" b="0">
                <a:solidFill>
                  <a:srgbClr val="FFFFFF"/>
                </a:solidFill>
              </a:rPr>
              <a:t>W2  IMC 過厚 → 峰溫不足＋冷卻過快</a:t>
            </a:r>
          </a:p>
          <a:p>
            <a:pPr>
              <a:spcBef>
                <a:spcPts val="100"/>
              </a:spcBef>
            </a:pPr>
            <a:r>
              <a:rPr sz="919" b="0">
                <a:solidFill>
                  <a:srgbClr val="FFFFFF"/>
                </a:solidFill>
              </a:rPr>
              <a:t>W3  曲線偏差 → 換板後未重新確認</a:t>
            </a:r>
          </a:p>
          <a:p>
            <a:pPr>
              <a:spcBef>
                <a:spcPts val="100"/>
              </a:spcBef>
            </a:pPr>
            <a:r>
              <a:rPr sz="919" b="0">
                <a:solidFill>
                  <a:srgbClr val="F0A500"/>
                </a:solidFill>
              </a:rPr>
              <a:t>W4  未確認 → ECN 無強制再驗證步驟</a:t>
            </a:r>
          </a:p>
          <a:p>
            <a:pPr>
              <a:spcBef>
                <a:spcPts val="100"/>
              </a:spcBef>
            </a:pPr>
            <a:r>
              <a:rPr sz="919" b="0">
                <a:solidFill>
                  <a:srgbClr val="F0A500"/>
                </a:solidFill>
              </a:rPr>
              <a:t>W5  流程缺漏 → SOP-SMT-003 版本過舊</a:t>
            </a:r>
          </a:p>
          <a:p>
            <a:pPr>
              <a:spcBef>
                <a:spcPts val="100"/>
              </a:spcBef>
            </a:pPr>
            <a:r>
              <a:rPr sz="919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919" b="1">
                <a:solidFill>
                  <a:srgbClr val="FFD700"/>
                </a:solidFill>
              </a:rPr>
              <a:t>根本 → 修訂 ECN 加入 Gate＋更新 SOP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57453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FR-DRONE-HING-2026-001  |  Rev 1.0  |  2026-05-19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58952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5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4E"/>
                </a:solidFill>
              </a:rPr>
              <a:t>02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矯正行動 &amp; 專業技術提問（第3頁重點）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754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C"/>
                </a:solidFill>
              </a:rPr>
              <a:t>Corrective Actions &amp; Professional Q&amp;A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914400"/>
            <a:ext cx="5577840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9144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  矯正行動矩陣（Corrective Action Matrix）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261872"/>
            <a:ext cx="5577840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280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A500"/>
                </a:solidFill>
              </a:rPr>
              <a:t>類別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280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A500"/>
                </a:solidFill>
              </a:rPr>
              <a:t>行動項目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12801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A500"/>
                </a:solidFill>
              </a:rPr>
              <a:t>負責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1280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A500"/>
                </a:solidFill>
              </a:rPr>
              <a:t>期限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1536192"/>
            <a:ext cx="5577840" cy="260603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5636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製程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1563624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峰值溫度 248°C、TAL 60 sec、冷卻 ≤2.5°C/sec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56362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SMT Eng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15636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1796795"/>
            <a:ext cx="5577840" cy="260603"/>
          </a:xfrm>
          <a:prstGeom prst="rect">
            <a:avLst/>
          </a:prstGeom>
          <a:solidFill>
            <a:srgbClr val="1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18242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製程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1824228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SPI + Profiler 即時監控 Cpk≥1.33 管控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182422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QE / MFG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1184" y="182422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2057400"/>
            <a:ext cx="5577840" cy="260603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208483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084831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PCB 換 Rogers 4350B，焊盤 0.55 mm + Via-in-Pad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08483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HW 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2084831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318004"/>
            <a:ext cx="5577840" cy="260603"/>
          </a:xfrm>
          <a:prstGeom prst="rect">
            <a:avLst/>
          </a:prstGeom>
          <a:solidFill>
            <a:srgbClr val="1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23454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2345436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HING–機框間 Shore A40 矽膠解耦緩衝墊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23454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ME Eng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1184" y="23454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2578608"/>
            <a:ext cx="5577840" cy="260603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606039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D4FF"/>
                </a:solidFill>
              </a:rPr>
              <a:t>振動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2606039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PWM 24→32 kHz 迴避機臂 95 Hz 共振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26060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FW Eng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1184" y="2606039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2839211"/>
            <a:ext cx="5577840" cy="260603"/>
          </a:xfrm>
          <a:prstGeom prst="rect">
            <a:avLst/>
          </a:prstGeom>
          <a:solidFill>
            <a:srgbClr val="1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2866643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D4FF"/>
                </a:solidFill>
              </a:rPr>
              <a:t>振動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2866643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四角 Underfill 底膠（Loctite 3563）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286664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SMT Eng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1184" y="2866643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3099815"/>
            <a:ext cx="5577840" cy="260603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3127247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流程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3127247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ECN 增加「爐溫 Profile 再驗證 Gate」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3127247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PE / QA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1184" y="3127247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3360420"/>
            <a:ext cx="5577840" cy="260603"/>
          </a:xfrm>
          <a:prstGeom prst="rect">
            <a:avLst/>
          </a:prstGeom>
          <a:solidFill>
            <a:srgbClr val="1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338785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流程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3387851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SOP-SMT-003 更新至 Rev.4（BGA-like 要求）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338785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1184" y="3387851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4592" y="3621024"/>
            <a:ext cx="5577840" cy="260603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36484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A5A5"/>
                </a:solidFill>
              </a:rPr>
              <a:t>圍堵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3648456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隔離庫存 + 全數 X-Ray / AOI 複檢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364845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QA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364845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3881628"/>
            <a:ext cx="5577840" cy="260603"/>
          </a:xfrm>
          <a:prstGeom prst="rect">
            <a:avLst/>
          </a:prstGeom>
          <a:solidFill>
            <a:srgbClr val="1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390906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5FFC0"/>
                </a:solidFill>
              </a:rPr>
              <a:t>預防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" y="3909060"/>
            <a:ext cx="2999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&gt;800 循環機體自動觸發預防換件警告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390906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MIS / SW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01184" y="39090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</a:rPr>
              <a:t>D+45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25312" y="914400"/>
            <a:ext cx="6099048" cy="329184"/>
          </a:xfrm>
          <a:prstGeom prst="rect">
            <a:avLst/>
          </a:prstGeom>
          <a:solidFill>
            <a:srgbClr val="7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25312" y="914400"/>
            <a:ext cx="6099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10 大專業技術提問（Professional Q&amp;A）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25312" y="1298448"/>
            <a:ext cx="6099048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25312" y="1298448"/>
            <a:ext cx="109728" cy="2286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89320" y="1316736"/>
            <a:ext cx="5943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500"/>
                </a:solidFill>
              </a:rPr>
              <a:t>  製程面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25312" y="1545336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35040" y="1563624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Q1  過去6個月回焊 Profile 記錄是否完整？Cpk 值為何？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25312" y="1828800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35040" y="1847088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Q2  IMC 厚度是否有驗收標準？最後截面分析批次為何？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25312" y="2112264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35040" y="2130552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Q3  助焊劑活性在 &lt;240°C 下的潤濕力測試數據？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25312" y="2432304"/>
            <a:ext cx="6099048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25312" y="2432304"/>
            <a:ext cx="109728" cy="228600"/>
          </a:xfrm>
          <a:prstGeom prst="rect">
            <a:avLst/>
          </a:prstGeom>
          <a:solidFill>
            <a:srgbClr val="7B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89320" y="2450592"/>
            <a:ext cx="5943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D4FF"/>
                </a:solidFill>
              </a:rPr>
              <a:t>  設計面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25312" y="2679192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35040" y="2697480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Q4  設計審查是否執行 CTE 計算與 FEA 熱應力仿真？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25312" y="2962656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35040" y="2980944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Q5  角落焊盤尺寸依何標準設計？是否考量應力集中係數 Kt？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25312" y="3282696"/>
            <a:ext cx="6099048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25312" y="3282696"/>
            <a:ext cx="109728" cy="228600"/>
          </a:xfrm>
          <a:prstGeom prst="rect">
            <a:avLst/>
          </a:prstGeom>
          <a:solidFill>
            <a:srgbClr val="A5F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89320" y="3300984"/>
            <a:ext cx="5943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FFC0"/>
                </a:solidFill>
              </a:rPr>
              <a:t>  可靠度面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25312" y="3529584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35040" y="3547872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Q6  量產前是否通過 HALT / ATC 驗證？加速因子依據為何？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25312" y="3813048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35040" y="3831335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Q7  振動測試 PSD 規格是否涵蓋 80–120 Hz 實測 12G 加速度？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25312" y="4133087"/>
            <a:ext cx="6099048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925312" y="4133087"/>
            <a:ext cx="109728" cy="228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89320" y="4151375"/>
            <a:ext cx="5943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  供應鏈面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25312" y="4379975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0" y="4398263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Q8  失效批次 SAC305 錫球供應商批號與 CoC 能否追溯？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25312" y="4663439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35040" y="4681727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Q9  ENIG 鍍層厚度是否量測？排除「黑墊」問題？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25312" y="4983479"/>
            <a:ext cx="6099048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925312" y="4983479"/>
            <a:ext cx="109728" cy="228600"/>
          </a:xfrm>
          <a:prstGeom prst="rect">
            <a:avLst/>
          </a:prstGeom>
          <a:solidFill>
            <a:srgbClr val="FF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89320" y="5001767"/>
            <a:ext cx="5943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A5"/>
                </a:solidFill>
              </a:rPr>
              <a:t>  系統面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25312" y="5230367"/>
            <a:ext cx="6099048" cy="2743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35040" y="5248655"/>
            <a:ext cx="5925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</a:rPr>
              <a:t>Q10 能否提供失效機體最後10次飛行數據，建立預測維護模型？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82880" y="657453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C"/>
                </a:solidFill>
              </a:rPr>
              <a:t>FR-DRONE-HING-2026-001  |  Rev 1.0  |  2026-05-19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